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70" r:id="rId3"/>
    <p:sldId id="257" r:id="rId4"/>
    <p:sldId id="258" r:id="rId5"/>
    <p:sldId id="259" r:id="rId6"/>
    <p:sldId id="260" r:id="rId7"/>
    <p:sldId id="261" r:id="rId8"/>
    <p:sldId id="262" r:id="rId9"/>
    <p:sldId id="263" r:id="rId10"/>
    <p:sldId id="264" r:id="rId11"/>
    <p:sldId id="265" r:id="rId12"/>
    <p:sldId id="267" r:id="rId13"/>
    <p:sldId id="268" r:id="rId14"/>
    <p:sldId id="26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91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5CC91-FF3F-4093-A105-8F9EC8435506}" type="datetimeFigureOut">
              <a:rPr lang="en-US" smtClean="0"/>
              <a:t>11/21/2024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43953C-E65F-4023-963F-E51089585E46}" type="slidenum">
              <a:rPr lang="en-US" smtClean="0"/>
              <a:t>‹#›</a:t>
            </a:fld>
            <a:endParaRPr lang="en-US"/>
          </a:p>
        </p:txBody>
      </p:sp>
    </p:spTree>
    <p:extLst>
      <p:ext uri="{BB962C8B-B14F-4D97-AF65-F5344CB8AC3E}">
        <p14:creationId xmlns:p14="http://schemas.microsoft.com/office/powerpoint/2010/main" val="1947296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3953C-E65F-4023-963F-E51089585E46}" type="slidenum">
              <a:rPr lang="en-US" smtClean="0"/>
              <a:t>9</a:t>
            </a:fld>
            <a:endParaRPr lang="en-US"/>
          </a:p>
        </p:txBody>
      </p:sp>
    </p:spTree>
    <p:extLst>
      <p:ext uri="{BB962C8B-B14F-4D97-AF65-F5344CB8AC3E}">
        <p14:creationId xmlns:p14="http://schemas.microsoft.com/office/powerpoint/2010/main" val="1916123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43953C-E65F-4023-963F-E51089585E46}" type="slidenum">
              <a:rPr lang="en-US" smtClean="0"/>
              <a:t>12</a:t>
            </a:fld>
            <a:endParaRPr lang="en-US"/>
          </a:p>
        </p:txBody>
      </p:sp>
    </p:spTree>
    <p:extLst>
      <p:ext uri="{BB962C8B-B14F-4D97-AF65-F5344CB8AC3E}">
        <p14:creationId xmlns:p14="http://schemas.microsoft.com/office/powerpoint/2010/main" val="794925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864A8-1E0A-E674-90CA-0E304A6E1F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EE3784-5B41-6569-434F-D3B2D3D018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41C842-6A0F-CD22-2C73-1DBC637761C2}"/>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a:extLst>
              <a:ext uri="{FF2B5EF4-FFF2-40B4-BE49-F238E27FC236}">
                <a16:creationId xmlns:a16="http://schemas.microsoft.com/office/drawing/2014/main" id="{67E403ED-A1FD-889A-3B73-33F4B922C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F771B-3D7A-A3B8-B914-DA13CA188650}"/>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78082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CAE64-68DF-98EE-95EA-D4F345E8FF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E1C8B1-B68D-554D-DCC9-3FB1748EAB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B881F2-4A38-490F-622B-EDEB563C2D97}"/>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a:extLst>
              <a:ext uri="{FF2B5EF4-FFF2-40B4-BE49-F238E27FC236}">
                <a16:creationId xmlns:a16="http://schemas.microsoft.com/office/drawing/2014/main" id="{022B4CA4-5471-1D5B-C96D-F427B1F2A4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6FEFE-4BA4-1DBD-E685-DFF03609EB37}"/>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4000686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15217-FD62-E0AE-D197-D2F0D598F2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F62D79-36D0-EA4A-E250-B491FC0E8C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5BC202-8EF1-470F-7947-6C58408530F4}"/>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a:extLst>
              <a:ext uri="{FF2B5EF4-FFF2-40B4-BE49-F238E27FC236}">
                <a16:creationId xmlns:a16="http://schemas.microsoft.com/office/drawing/2014/main" id="{7E2A0C33-1990-E5E1-7C58-D5AA692DBE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A0A86D-3ACC-EBDA-2916-0FB8FFF2AC54}"/>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67328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7BA60-D010-71E4-06F6-6126EAD2CB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83540E-1150-A4DC-89C2-A6530E90B7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0DC9C2-E857-9D56-8C54-CBEE472113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3B526B-2809-F633-3D57-23CA0EDCF2ED}"/>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6" name="Footer Placeholder 5">
            <a:extLst>
              <a:ext uri="{FF2B5EF4-FFF2-40B4-BE49-F238E27FC236}">
                <a16:creationId xmlns:a16="http://schemas.microsoft.com/office/drawing/2014/main" id="{D143295F-5739-8FC6-7F49-932074DB02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53EF4B-4103-7DC6-534C-76ABFED5EAEB}"/>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936317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C2276-76C6-FFF7-C022-E64DF5CD7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7C52BF-BE22-3822-05F1-AFEC28235F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09FA56-B633-1140-C5F8-4038761B19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C82CE6-C524-5968-51A1-9C6E374707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243039-5A6E-8C42-EEAE-74CFA266F0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0F6850-DDF2-909B-82AC-F71E3784FFCE}"/>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8" name="Footer Placeholder 7">
            <a:extLst>
              <a:ext uri="{FF2B5EF4-FFF2-40B4-BE49-F238E27FC236}">
                <a16:creationId xmlns:a16="http://schemas.microsoft.com/office/drawing/2014/main" id="{B6A85A87-1775-D72E-881E-10CE26634D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76837C-195F-5A7D-4701-770BD4E5CEA7}"/>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733955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FC851-1EF1-D511-A27B-81ED0E9617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1D338E-8A31-C076-4B47-124639F1CA41}"/>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4" name="Footer Placeholder 3">
            <a:extLst>
              <a:ext uri="{FF2B5EF4-FFF2-40B4-BE49-F238E27FC236}">
                <a16:creationId xmlns:a16="http://schemas.microsoft.com/office/drawing/2014/main" id="{0A1BF6DD-FC1F-749A-FDBB-D3705FE9C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B5A77C-518F-70F0-CBF2-2430F27635DD}"/>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597627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63361F-566D-478A-E6A5-CD22B8AB1A60}"/>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3" name="Footer Placeholder 2">
            <a:extLst>
              <a:ext uri="{FF2B5EF4-FFF2-40B4-BE49-F238E27FC236}">
                <a16:creationId xmlns:a16="http://schemas.microsoft.com/office/drawing/2014/main" id="{1853FC98-91E2-AC61-5191-E055FAA77C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0B29DD-A828-D60E-5C14-58433E74AFFB}"/>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588876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F6480-8FC2-B846-32B7-338EF1681A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ED85FF-6482-53BB-E307-9FE068A04B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96E4E-FC2C-4C61-3B8C-57AE44B876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BD2468-1F64-AC76-F281-D70B48B0483B}"/>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6" name="Footer Placeholder 5">
            <a:extLst>
              <a:ext uri="{FF2B5EF4-FFF2-40B4-BE49-F238E27FC236}">
                <a16:creationId xmlns:a16="http://schemas.microsoft.com/office/drawing/2014/main" id="{14285611-095D-25A6-3C45-83C7CF6C20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FF3D71-F251-5627-53AD-3CFBA14E67DE}"/>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592695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02370-D27B-E7FD-E75D-1A2E9044DC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0CB585-C457-698C-5A57-6EB52232AA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1647D8-C767-6729-1D7C-E6C12E5BEE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E37A6-00E2-2EE1-82CA-01C99648C7F2}"/>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6" name="Footer Placeholder 5">
            <a:extLst>
              <a:ext uri="{FF2B5EF4-FFF2-40B4-BE49-F238E27FC236}">
                <a16:creationId xmlns:a16="http://schemas.microsoft.com/office/drawing/2014/main" id="{8A230E95-1403-331A-07E0-2E71A41B12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D93791-5ECF-4ADA-E1ED-D042625CDBB4}"/>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4002302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B5228-2AE6-3056-B227-04399596A1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EB35BE-641A-8679-A1CA-E61AE18FFB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8D7AC-27F9-B8BC-47DB-E01AA24E2B68}"/>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a:extLst>
              <a:ext uri="{FF2B5EF4-FFF2-40B4-BE49-F238E27FC236}">
                <a16:creationId xmlns:a16="http://schemas.microsoft.com/office/drawing/2014/main" id="{552D039D-0615-892F-A191-9697C457AC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61555D-454A-4346-D67F-340687F9A03A}"/>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739452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C738E6-603A-31AE-5D30-83A30B4EEA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D423A8-4A38-D77F-D426-9D5C85BD66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98E32-087C-4757-3614-42B56C7C6560}"/>
              </a:ext>
            </a:extLst>
          </p:cNvPr>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a:extLst>
              <a:ext uri="{FF2B5EF4-FFF2-40B4-BE49-F238E27FC236}">
                <a16:creationId xmlns:a16="http://schemas.microsoft.com/office/drawing/2014/main" id="{89201F41-651A-2D45-0B42-9937CA8E79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E061C-ECDE-8283-E8D7-659111C27483}"/>
              </a:ext>
            </a:extLst>
          </p:cNvPr>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458222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6D73E09E-2F1B-4B5D-8B99-D98411CCB569}" type="datetimeFigureOut">
              <a:rPr lang="en-US" smtClean="0"/>
              <a:t>11/21/2024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602458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749474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35238187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3E09E-2F1B-4B5D-8B99-D98411CCB569}"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1719993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73E09E-2F1B-4B5D-8B99-D98411CCB569}" type="datetimeFigureOut">
              <a:rPr lang="en-US" smtClean="0"/>
              <a:t>11/21/2024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1259956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73E09E-2F1B-4B5D-8B99-D98411CCB569}" type="datetimeFigureOut">
              <a:rPr lang="en-US" smtClean="0"/>
              <a:t>11/21/2024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156857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73E09E-2F1B-4B5D-8B99-D98411CCB569}" type="datetimeFigureOut">
              <a:rPr lang="en-US" smtClean="0"/>
              <a:t>11/21/2024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8570671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73E09E-2F1B-4B5D-8B99-D98411CCB569}"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1843138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73E09E-2F1B-4B5D-8B99-D98411CCB569}"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0449170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73E09E-2F1B-4B5D-8B99-D98411CCB569}"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0585169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38914795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35893607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73E09E-2F1B-4B5D-8B99-D98411CCB569}"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19404742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D73E09E-2F1B-4B5D-8B99-D98411CCB569}" type="datetimeFigureOut">
              <a:rPr lang="en-US" smtClean="0"/>
              <a:t>11/21/2024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39166315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D73E09E-2F1B-4B5D-8B99-D98411CCB569}" type="datetimeFigureOut">
              <a:rPr lang="en-US" smtClean="0"/>
              <a:t>11/21/2024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20381432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6D73E09E-2F1B-4B5D-8B99-D98411CCB569}"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35610069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6D73E09E-2F1B-4B5D-8B99-D98411CCB569}"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F5ADD95-ADC7-4005-B387-1023AE7F3FDA}" type="slidenum">
              <a:rPr lang="en-US" smtClean="0"/>
              <a:t>‹#›</a:t>
            </a:fld>
            <a:endParaRPr lang="en-US"/>
          </a:p>
        </p:txBody>
      </p:sp>
    </p:spTree>
    <p:extLst>
      <p:ext uri="{BB962C8B-B14F-4D97-AF65-F5344CB8AC3E}">
        <p14:creationId xmlns:p14="http://schemas.microsoft.com/office/powerpoint/2010/main" val="948076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CB9EA-CE20-041E-5C6A-9055607FCF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811BB9-2F74-1A87-10E5-2063DF9718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1B2C51-8A2F-06E0-0EEB-3F45348D0A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3E09E-2F1B-4B5D-8B99-D98411CCB569}" type="datetimeFigureOut">
              <a:rPr lang="en-US" smtClean="0"/>
              <a:t>11/21/2024</a:t>
            </a:fld>
            <a:endParaRPr lang="en-US"/>
          </a:p>
        </p:txBody>
      </p:sp>
      <p:sp>
        <p:nvSpPr>
          <p:cNvPr id="5" name="Footer Placeholder 4">
            <a:extLst>
              <a:ext uri="{FF2B5EF4-FFF2-40B4-BE49-F238E27FC236}">
                <a16:creationId xmlns:a16="http://schemas.microsoft.com/office/drawing/2014/main" id="{8976CEE4-4D61-0CD9-24C8-33B6A747A7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5B35AE8-C65B-1942-BB14-93869C74A6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5ADD95-ADC7-4005-B387-1023AE7F3FDA}" type="slidenum">
              <a:rPr lang="en-US" smtClean="0"/>
              <a:t>‹#›</a:t>
            </a:fld>
            <a:endParaRPr lang="en-US"/>
          </a:p>
        </p:txBody>
      </p:sp>
    </p:spTree>
    <p:extLst>
      <p:ext uri="{BB962C8B-B14F-4D97-AF65-F5344CB8AC3E}">
        <p14:creationId xmlns:p14="http://schemas.microsoft.com/office/powerpoint/2010/main" val="1375217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6D73E09E-2F1B-4B5D-8B99-D98411CCB569}" type="datetimeFigureOut">
              <a:rPr lang="en-US" smtClean="0"/>
              <a:t>11/21/2024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EF5ADD95-ADC7-4005-B387-1023AE7F3FDA}" type="slidenum">
              <a:rPr lang="en-US" smtClean="0"/>
              <a:t>‹#›</a:t>
            </a:fld>
            <a:endParaRPr lang="en-US"/>
          </a:p>
        </p:txBody>
      </p:sp>
    </p:spTree>
    <p:extLst>
      <p:ext uri="{BB962C8B-B14F-4D97-AF65-F5344CB8AC3E}">
        <p14:creationId xmlns:p14="http://schemas.microsoft.com/office/powerpoint/2010/main" val="38042540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425DB1-0B64-652C-2BBC-CCB588D43FAC}"/>
              </a:ext>
            </a:extLst>
          </p:cNvPr>
          <p:cNvPicPr>
            <a:picLocks noChangeAspect="1"/>
          </p:cNvPicPr>
          <p:nvPr/>
        </p:nvPicPr>
        <p:blipFill>
          <a:blip r:embed="rId2"/>
          <a:stretch>
            <a:fillRect/>
          </a:stretch>
        </p:blipFill>
        <p:spPr>
          <a:xfrm>
            <a:off x="0" y="0"/>
            <a:ext cx="12192000" cy="4959626"/>
          </a:xfrm>
          <a:prstGeom prst="rect">
            <a:avLst/>
          </a:prstGeom>
        </p:spPr>
      </p:pic>
      <p:sp>
        <p:nvSpPr>
          <p:cNvPr id="7" name="TextBox 6">
            <a:extLst>
              <a:ext uri="{FF2B5EF4-FFF2-40B4-BE49-F238E27FC236}">
                <a16:creationId xmlns:a16="http://schemas.microsoft.com/office/drawing/2014/main" id="{7A1EE4CF-7633-4C49-0DD5-48BFA06C9941}"/>
              </a:ext>
            </a:extLst>
          </p:cNvPr>
          <p:cNvSpPr txBox="1"/>
          <p:nvPr/>
        </p:nvSpPr>
        <p:spPr>
          <a:xfrm>
            <a:off x="218661" y="5367130"/>
            <a:ext cx="9909313" cy="461665"/>
          </a:xfrm>
          <a:prstGeom prst="rect">
            <a:avLst/>
          </a:prstGeom>
          <a:noFill/>
        </p:spPr>
        <p:txBody>
          <a:bodyPr wrap="square" rtlCol="0">
            <a:spAutoFit/>
          </a:bodyPr>
          <a:lstStyle/>
          <a:p>
            <a:r>
              <a:rPr lang="en-US" sz="2400" b="1" dirty="0"/>
              <a:t>Exploring Diverse Perspective on Edge Computing</a:t>
            </a:r>
            <a:endParaRPr lang="en-US" sz="2400" dirty="0"/>
          </a:p>
        </p:txBody>
      </p:sp>
    </p:spTree>
    <p:extLst>
      <p:ext uri="{BB962C8B-B14F-4D97-AF65-F5344CB8AC3E}">
        <p14:creationId xmlns:p14="http://schemas.microsoft.com/office/powerpoint/2010/main" val="2342661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A7125A-BA6F-82B2-7118-C77E8CBD54D3}"/>
              </a:ext>
            </a:extLst>
          </p:cNvPr>
          <p:cNvPicPr>
            <a:picLocks noChangeAspect="1"/>
          </p:cNvPicPr>
          <p:nvPr/>
        </p:nvPicPr>
        <p:blipFill>
          <a:blip r:embed="rId2"/>
          <a:stretch>
            <a:fillRect/>
          </a:stretch>
        </p:blipFill>
        <p:spPr>
          <a:xfrm>
            <a:off x="0" y="201899"/>
            <a:ext cx="12192000" cy="6454201"/>
          </a:xfrm>
          <a:prstGeom prst="rect">
            <a:avLst/>
          </a:prstGeom>
        </p:spPr>
      </p:pic>
    </p:spTree>
    <p:extLst>
      <p:ext uri="{BB962C8B-B14F-4D97-AF65-F5344CB8AC3E}">
        <p14:creationId xmlns:p14="http://schemas.microsoft.com/office/powerpoint/2010/main" val="3587786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5E43C-1344-9D7E-DF16-5442914EBA3E}"/>
              </a:ext>
            </a:extLst>
          </p:cNvPr>
          <p:cNvPicPr>
            <a:picLocks noChangeAspect="1"/>
          </p:cNvPicPr>
          <p:nvPr/>
        </p:nvPicPr>
        <p:blipFill>
          <a:blip r:embed="rId2"/>
          <a:stretch>
            <a:fillRect/>
          </a:stretch>
        </p:blipFill>
        <p:spPr>
          <a:xfrm>
            <a:off x="0" y="521826"/>
            <a:ext cx="12192000" cy="5814347"/>
          </a:xfrm>
          <a:prstGeom prst="rect">
            <a:avLst/>
          </a:prstGeom>
        </p:spPr>
      </p:pic>
      <p:graphicFrame>
        <p:nvGraphicFramePr>
          <p:cNvPr id="2" name="Table 1">
            <a:extLst>
              <a:ext uri="{FF2B5EF4-FFF2-40B4-BE49-F238E27FC236}">
                <a16:creationId xmlns:a16="http://schemas.microsoft.com/office/drawing/2014/main" id="{5B806C3F-64A0-4909-7462-E52FC205ACE7}"/>
              </a:ext>
            </a:extLst>
          </p:cNvPr>
          <p:cNvGraphicFramePr>
            <a:graphicFrameLocks noGrp="1"/>
          </p:cNvGraphicFramePr>
          <p:nvPr>
            <p:extLst>
              <p:ext uri="{D42A27DB-BD31-4B8C-83A1-F6EECF244321}">
                <p14:modId xmlns:p14="http://schemas.microsoft.com/office/powerpoint/2010/main" val="1313653535"/>
              </p:ext>
            </p:extLst>
          </p:nvPr>
        </p:nvGraphicFramePr>
        <p:xfrm>
          <a:off x="1381539" y="4800600"/>
          <a:ext cx="8010939" cy="1535574"/>
        </p:xfrm>
        <a:graphic>
          <a:graphicData uri="http://schemas.openxmlformats.org/drawingml/2006/table">
            <a:tbl>
              <a:tblPr firstRow="1" firstCol="1" lastRow="1" lastCol="1" bandRow="1" bandCol="1">
                <a:tableStyleId>{5C22544A-7EE6-4342-B048-85BDC9FD1C3A}</a:tableStyleId>
              </a:tblPr>
              <a:tblGrid>
                <a:gridCol w="1164375">
                  <a:extLst>
                    <a:ext uri="{9D8B030D-6E8A-4147-A177-3AD203B41FA5}">
                      <a16:colId xmlns:a16="http://schemas.microsoft.com/office/drawing/2014/main" val="2817727960"/>
                    </a:ext>
                  </a:extLst>
                </a:gridCol>
                <a:gridCol w="6846564">
                  <a:extLst>
                    <a:ext uri="{9D8B030D-6E8A-4147-A177-3AD203B41FA5}">
                      <a16:colId xmlns:a16="http://schemas.microsoft.com/office/drawing/2014/main" val="3000903987"/>
                    </a:ext>
                  </a:extLst>
                </a:gridCol>
              </a:tblGrid>
              <a:tr h="255502">
                <a:tc>
                  <a:txBody>
                    <a:bodyPr/>
                    <a:lstStyle/>
                    <a:p>
                      <a:pPr marL="67945" marR="0">
                        <a:lnSpc>
                          <a:spcPts val="1050"/>
                        </a:lnSpc>
                        <a:spcBef>
                          <a:spcPts val="350"/>
                        </a:spcBef>
                      </a:pPr>
                      <a:r>
                        <a:rPr lang="en-US" sz="1000" spc="-20">
                          <a:effectLst/>
                        </a:rPr>
                        <a:t>Year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lnSpc>
                          <a:spcPts val="1050"/>
                        </a:lnSpc>
                        <a:spcBef>
                          <a:spcPts val="350"/>
                        </a:spcBef>
                      </a:pPr>
                      <a:r>
                        <a:rPr lang="en-US" sz="1000">
                          <a:effectLst/>
                        </a:rPr>
                        <a:t>Milestone</a:t>
                      </a:r>
                      <a:r>
                        <a:rPr lang="en-US" sz="1000" spc="-50">
                          <a:effectLst/>
                        </a:rPr>
                        <a:t> </a:t>
                      </a:r>
                      <a:r>
                        <a:rPr lang="en-US" sz="1000" spc="-10">
                          <a:effectLst/>
                        </a:rPr>
                        <a:t>Description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000717347"/>
                  </a:ext>
                </a:extLst>
              </a:tr>
              <a:tr h="255502">
                <a:tc>
                  <a:txBody>
                    <a:bodyPr/>
                    <a:lstStyle/>
                    <a:p>
                      <a:pPr marL="67945" marR="0">
                        <a:spcBef>
                          <a:spcPts val="180"/>
                        </a:spcBef>
                      </a:pPr>
                      <a:r>
                        <a:rPr lang="en-US" sz="1000" spc="-10">
                          <a:effectLst/>
                        </a:rPr>
                        <a:t>1990s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180"/>
                        </a:spcBef>
                      </a:pPr>
                      <a:r>
                        <a:rPr lang="en-US" sz="1000">
                          <a:effectLst/>
                        </a:rPr>
                        <a:t>Emergence</a:t>
                      </a:r>
                      <a:r>
                        <a:rPr lang="en-US" sz="1000" spc="-35">
                          <a:effectLst/>
                        </a:rPr>
                        <a:t> </a:t>
                      </a:r>
                      <a:r>
                        <a:rPr lang="en-US" sz="1000">
                          <a:effectLst/>
                        </a:rPr>
                        <a:t>of</a:t>
                      </a:r>
                      <a:r>
                        <a:rPr lang="en-US" sz="1000" spc="-25">
                          <a:effectLst/>
                        </a:rPr>
                        <a:t> </a:t>
                      </a:r>
                      <a:r>
                        <a:rPr lang="en-US" sz="1000">
                          <a:effectLst/>
                        </a:rPr>
                        <a:t>Content</a:t>
                      </a:r>
                      <a:r>
                        <a:rPr lang="en-US" sz="1000" spc="-30">
                          <a:effectLst/>
                        </a:rPr>
                        <a:t> </a:t>
                      </a:r>
                      <a:r>
                        <a:rPr lang="en-US" sz="1000">
                          <a:effectLst/>
                        </a:rPr>
                        <a:t>Delivery</a:t>
                      </a:r>
                      <a:r>
                        <a:rPr lang="en-US" sz="1000" spc="-20">
                          <a:effectLst/>
                        </a:rPr>
                        <a:t> </a:t>
                      </a:r>
                      <a:r>
                        <a:rPr lang="en-US" sz="1000">
                          <a:effectLst/>
                        </a:rPr>
                        <a:t>Networks</a:t>
                      </a:r>
                      <a:r>
                        <a:rPr lang="en-US" sz="1000" spc="-30">
                          <a:effectLst/>
                        </a:rPr>
                        <a:t> </a:t>
                      </a:r>
                      <a:r>
                        <a:rPr lang="en-US" sz="1000" spc="-10">
                          <a:effectLst/>
                        </a:rPr>
                        <a:t>(CDNs)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346680676"/>
                  </a:ext>
                </a:extLst>
              </a:tr>
              <a:tr h="255502">
                <a:tc>
                  <a:txBody>
                    <a:bodyPr/>
                    <a:lstStyle/>
                    <a:p>
                      <a:pPr marL="67945" marR="0">
                        <a:spcBef>
                          <a:spcPts val="180"/>
                        </a:spcBef>
                      </a:pPr>
                      <a:r>
                        <a:rPr lang="en-US" sz="1000" spc="-10">
                          <a:effectLst/>
                        </a:rPr>
                        <a:t>2000s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180"/>
                        </a:spcBef>
                      </a:pPr>
                      <a:r>
                        <a:rPr lang="en-US" sz="1000" dirty="0">
                          <a:effectLst/>
                        </a:rPr>
                        <a:t>Proliferation</a:t>
                      </a:r>
                      <a:r>
                        <a:rPr lang="en-US" sz="1000" spc="-25" dirty="0">
                          <a:effectLst/>
                        </a:rPr>
                        <a:t> </a:t>
                      </a:r>
                      <a:r>
                        <a:rPr lang="en-US" sz="1000" dirty="0">
                          <a:effectLst/>
                        </a:rPr>
                        <a:t>of</a:t>
                      </a:r>
                      <a:r>
                        <a:rPr lang="en-US" sz="1000" spc="-25" dirty="0">
                          <a:effectLst/>
                        </a:rPr>
                        <a:t> </a:t>
                      </a:r>
                      <a:r>
                        <a:rPr lang="en-US" sz="1000" dirty="0">
                          <a:effectLst/>
                        </a:rPr>
                        <a:t>mobile</a:t>
                      </a:r>
                      <a:r>
                        <a:rPr lang="en-US" sz="1000" spc="-30" dirty="0">
                          <a:effectLst/>
                        </a:rPr>
                        <a:t> </a:t>
                      </a:r>
                      <a:r>
                        <a:rPr lang="en-US" sz="1000" dirty="0">
                          <a:effectLst/>
                        </a:rPr>
                        <a:t>computing</a:t>
                      </a:r>
                      <a:r>
                        <a:rPr lang="en-US" sz="1000" spc="-20" dirty="0">
                          <a:effectLst/>
                        </a:rPr>
                        <a:t> </a:t>
                      </a:r>
                      <a:r>
                        <a:rPr lang="en-US" sz="1000" dirty="0">
                          <a:effectLst/>
                        </a:rPr>
                        <a:t>and</a:t>
                      </a:r>
                      <a:r>
                        <a:rPr lang="en-US" sz="1000" spc="-30" dirty="0">
                          <a:effectLst/>
                        </a:rPr>
                        <a:t> </a:t>
                      </a:r>
                      <a:r>
                        <a:rPr lang="en-US" sz="1000" dirty="0">
                          <a:effectLst/>
                        </a:rPr>
                        <a:t>Internet</a:t>
                      </a:r>
                      <a:r>
                        <a:rPr lang="en-US" sz="1000" spc="-35" dirty="0">
                          <a:effectLst/>
                        </a:rPr>
                        <a:t> </a:t>
                      </a:r>
                      <a:r>
                        <a:rPr lang="en-US" sz="1000" dirty="0">
                          <a:effectLst/>
                        </a:rPr>
                        <a:t>of</a:t>
                      </a:r>
                      <a:r>
                        <a:rPr lang="en-US" sz="1000" spc="-30" dirty="0">
                          <a:effectLst/>
                        </a:rPr>
                        <a:t> </a:t>
                      </a:r>
                      <a:r>
                        <a:rPr lang="en-US" sz="1000" dirty="0">
                          <a:effectLst/>
                        </a:rPr>
                        <a:t>Things</a:t>
                      </a:r>
                      <a:r>
                        <a:rPr lang="en-US" sz="1000" spc="-30" dirty="0">
                          <a:effectLst/>
                        </a:rPr>
                        <a:t> </a:t>
                      </a:r>
                      <a:r>
                        <a:rPr lang="en-US" sz="1000" spc="-20" dirty="0">
                          <a:effectLst/>
                        </a:rPr>
                        <a:t>(IoT)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152499791"/>
                  </a:ext>
                </a:extLst>
              </a:tr>
              <a:tr h="258064">
                <a:tc>
                  <a:txBody>
                    <a:bodyPr/>
                    <a:lstStyle/>
                    <a:p>
                      <a:pPr marL="67945" marR="0">
                        <a:spcBef>
                          <a:spcPts val="185"/>
                        </a:spcBef>
                      </a:pPr>
                      <a:r>
                        <a:rPr lang="en-US" sz="1000" spc="-10">
                          <a:effectLst/>
                        </a:rPr>
                        <a:t>2010s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185"/>
                        </a:spcBef>
                      </a:pPr>
                      <a:r>
                        <a:rPr lang="en-US" sz="1000" dirty="0">
                          <a:effectLst/>
                        </a:rPr>
                        <a:t>Introduction</a:t>
                      </a:r>
                      <a:r>
                        <a:rPr lang="en-US" sz="1000" spc="-25" dirty="0">
                          <a:effectLst/>
                        </a:rPr>
                        <a:t> </a:t>
                      </a:r>
                      <a:r>
                        <a:rPr lang="en-US" sz="1000" dirty="0">
                          <a:effectLst/>
                        </a:rPr>
                        <a:t>of</a:t>
                      </a:r>
                      <a:r>
                        <a:rPr lang="en-US" sz="1000" spc="-25" dirty="0">
                          <a:effectLst/>
                        </a:rPr>
                        <a:t> </a:t>
                      </a:r>
                      <a:r>
                        <a:rPr lang="en-US" sz="1000" dirty="0">
                          <a:effectLst/>
                        </a:rPr>
                        <a:t>fog</a:t>
                      </a:r>
                      <a:r>
                        <a:rPr lang="en-US" sz="1000" spc="-15" dirty="0">
                          <a:effectLst/>
                        </a:rPr>
                        <a:t> </a:t>
                      </a:r>
                      <a:r>
                        <a:rPr lang="en-US" sz="1000" spc="-10" dirty="0">
                          <a:effectLst/>
                        </a:rPr>
                        <a:t>computing</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894753794"/>
                  </a:ext>
                </a:extLst>
              </a:tr>
              <a:tr h="255502">
                <a:tc>
                  <a:txBody>
                    <a:bodyPr/>
                    <a:lstStyle/>
                    <a:p>
                      <a:pPr marL="67945" marR="0">
                        <a:spcBef>
                          <a:spcPts val="170"/>
                        </a:spcBef>
                      </a:pPr>
                      <a:r>
                        <a:rPr lang="en-US" sz="1000" spc="-20">
                          <a:effectLst/>
                        </a:rPr>
                        <a:t>2017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170"/>
                        </a:spcBef>
                      </a:pPr>
                      <a:r>
                        <a:rPr lang="en-US" sz="1000" dirty="0">
                          <a:effectLst/>
                        </a:rPr>
                        <a:t>Release</a:t>
                      </a:r>
                      <a:r>
                        <a:rPr lang="en-US" sz="1000" spc="-30" dirty="0">
                          <a:effectLst/>
                        </a:rPr>
                        <a:t> </a:t>
                      </a:r>
                      <a:r>
                        <a:rPr lang="en-US" sz="1000" dirty="0">
                          <a:effectLst/>
                        </a:rPr>
                        <a:t>of</a:t>
                      </a:r>
                      <a:r>
                        <a:rPr lang="en-US" sz="1000" spc="-25" dirty="0">
                          <a:effectLst/>
                        </a:rPr>
                        <a:t> </a:t>
                      </a:r>
                      <a:r>
                        <a:rPr lang="en-US" sz="1000" dirty="0">
                          <a:effectLst/>
                        </a:rPr>
                        <a:t>the</a:t>
                      </a:r>
                      <a:r>
                        <a:rPr lang="en-US" sz="1000" spc="-15" dirty="0">
                          <a:effectLst/>
                        </a:rPr>
                        <a:t> </a:t>
                      </a:r>
                      <a:r>
                        <a:rPr lang="en-US" sz="1000" dirty="0">
                          <a:effectLst/>
                        </a:rPr>
                        <a:t>Open Fog</a:t>
                      </a:r>
                      <a:r>
                        <a:rPr lang="en-US" sz="1000" spc="-25" dirty="0">
                          <a:effectLst/>
                        </a:rPr>
                        <a:t> </a:t>
                      </a:r>
                      <a:r>
                        <a:rPr lang="en-US" sz="1000" dirty="0">
                          <a:effectLst/>
                        </a:rPr>
                        <a:t>reference</a:t>
                      </a:r>
                      <a:r>
                        <a:rPr lang="en-US" sz="1000" spc="-25" dirty="0">
                          <a:effectLst/>
                        </a:rPr>
                        <a:t> </a:t>
                      </a:r>
                      <a:r>
                        <a:rPr lang="en-US" sz="1000" spc="-10" dirty="0">
                          <a:effectLst/>
                        </a:rPr>
                        <a:t>architecture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67317128"/>
                  </a:ext>
                </a:extLst>
              </a:tr>
              <a:tr h="255502">
                <a:tc>
                  <a:txBody>
                    <a:bodyPr/>
                    <a:lstStyle/>
                    <a:p>
                      <a:pPr marL="67945" marR="0">
                        <a:spcBef>
                          <a:spcPts val="170"/>
                        </a:spcBef>
                      </a:pPr>
                      <a:r>
                        <a:rPr lang="en-US" sz="1000" spc="-10">
                          <a:effectLst/>
                        </a:rPr>
                        <a:t>2020s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170"/>
                        </a:spcBef>
                      </a:pPr>
                      <a:r>
                        <a:rPr lang="en-US" sz="1000" dirty="0">
                          <a:effectLst/>
                        </a:rPr>
                        <a:t>Integration</a:t>
                      </a:r>
                      <a:r>
                        <a:rPr lang="en-US" sz="1000" spc="-25" dirty="0">
                          <a:effectLst/>
                        </a:rPr>
                        <a:t> </a:t>
                      </a:r>
                      <a:r>
                        <a:rPr lang="en-US" sz="1000" dirty="0">
                          <a:effectLst/>
                        </a:rPr>
                        <a:t>of</a:t>
                      </a:r>
                      <a:r>
                        <a:rPr lang="en-US" sz="1000" spc="-25" dirty="0">
                          <a:effectLst/>
                        </a:rPr>
                        <a:t> </a:t>
                      </a:r>
                      <a:r>
                        <a:rPr lang="en-US" sz="1000" dirty="0">
                          <a:effectLst/>
                        </a:rPr>
                        <a:t>5G</a:t>
                      </a:r>
                      <a:r>
                        <a:rPr lang="en-US" sz="1000" spc="-20" dirty="0">
                          <a:effectLst/>
                        </a:rPr>
                        <a:t> </a:t>
                      </a:r>
                      <a:r>
                        <a:rPr lang="en-US" sz="1000" dirty="0">
                          <a:effectLst/>
                        </a:rPr>
                        <a:t>networks</a:t>
                      </a:r>
                      <a:r>
                        <a:rPr lang="en-US" sz="1000" spc="-20" dirty="0">
                          <a:effectLst/>
                        </a:rPr>
                        <a:t> </a:t>
                      </a:r>
                      <a:r>
                        <a:rPr lang="en-US" sz="1000" dirty="0">
                          <a:effectLst/>
                        </a:rPr>
                        <a:t>with</a:t>
                      </a:r>
                      <a:r>
                        <a:rPr lang="en-US" sz="1000" spc="-15" dirty="0">
                          <a:effectLst/>
                        </a:rPr>
                        <a:t> </a:t>
                      </a:r>
                      <a:r>
                        <a:rPr lang="en-US" sz="1000" dirty="0">
                          <a:effectLst/>
                        </a:rPr>
                        <a:t>edge</a:t>
                      </a:r>
                      <a:r>
                        <a:rPr lang="en-US" sz="1000" spc="-15" dirty="0">
                          <a:effectLst/>
                        </a:rPr>
                        <a:t> </a:t>
                      </a:r>
                      <a:r>
                        <a:rPr lang="en-US" sz="1000" spc="-10" dirty="0">
                          <a:effectLst/>
                        </a:rPr>
                        <a:t>computing</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628744236"/>
                  </a:ext>
                </a:extLst>
              </a:tr>
            </a:tbl>
          </a:graphicData>
        </a:graphic>
      </p:graphicFrame>
    </p:spTree>
    <p:extLst>
      <p:ext uri="{BB962C8B-B14F-4D97-AF65-F5344CB8AC3E}">
        <p14:creationId xmlns:p14="http://schemas.microsoft.com/office/powerpoint/2010/main" val="2769207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2057C0-20FB-F3E4-251D-99FAA9C85D1C}"/>
              </a:ext>
            </a:extLst>
          </p:cNvPr>
          <p:cNvPicPr>
            <a:picLocks noChangeAspect="1"/>
          </p:cNvPicPr>
          <p:nvPr/>
        </p:nvPicPr>
        <p:blipFill>
          <a:blip r:embed="rId2"/>
          <a:stretch>
            <a:fillRect/>
          </a:stretch>
        </p:blipFill>
        <p:spPr>
          <a:xfrm>
            <a:off x="0" y="67684"/>
            <a:ext cx="12192000" cy="6722632"/>
          </a:xfrm>
          <a:prstGeom prst="rect">
            <a:avLst/>
          </a:prstGeom>
        </p:spPr>
      </p:pic>
    </p:spTree>
    <p:extLst>
      <p:ext uri="{BB962C8B-B14F-4D97-AF65-F5344CB8AC3E}">
        <p14:creationId xmlns:p14="http://schemas.microsoft.com/office/powerpoint/2010/main" val="2259523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1CE75A-E065-A7AF-BC9A-02F9A50EEFD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11406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F0FF5F-3B2B-CA0A-F00F-2E629C4112FA}"/>
              </a:ext>
            </a:extLst>
          </p:cNvPr>
          <p:cNvPicPr>
            <a:picLocks noChangeAspect="1"/>
          </p:cNvPicPr>
          <p:nvPr/>
        </p:nvPicPr>
        <p:blipFill>
          <a:blip r:embed="rId2"/>
          <a:stretch>
            <a:fillRect/>
          </a:stretch>
        </p:blipFill>
        <p:spPr>
          <a:xfrm>
            <a:off x="0" y="28878"/>
            <a:ext cx="12192000" cy="6800243"/>
          </a:xfrm>
          <a:prstGeom prst="rect">
            <a:avLst/>
          </a:prstGeom>
        </p:spPr>
      </p:pic>
    </p:spTree>
    <p:extLst>
      <p:ext uri="{BB962C8B-B14F-4D97-AF65-F5344CB8AC3E}">
        <p14:creationId xmlns:p14="http://schemas.microsoft.com/office/powerpoint/2010/main" val="129820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BB26FB-3EA3-4489-345C-7C19395E80F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96336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58EA6C-F843-5CAB-5D45-0328230118A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75504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A70441-BFC1-C698-E525-557AF1412DE6}"/>
              </a:ext>
            </a:extLst>
          </p:cNvPr>
          <p:cNvPicPr>
            <a:picLocks noChangeAspect="1"/>
          </p:cNvPicPr>
          <p:nvPr/>
        </p:nvPicPr>
        <p:blipFill>
          <a:blip r:embed="rId3"/>
          <a:stretch>
            <a:fillRect/>
          </a:stretch>
        </p:blipFill>
        <p:spPr>
          <a:xfrm>
            <a:off x="0" y="5394"/>
            <a:ext cx="12192000" cy="6847211"/>
          </a:xfrm>
          <a:prstGeom prst="rect">
            <a:avLst/>
          </a:prstGeom>
        </p:spPr>
      </p:pic>
    </p:spTree>
    <p:extLst>
      <p:ext uri="{BB962C8B-B14F-4D97-AF65-F5344CB8AC3E}">
        <p14:creationId xmlns:p14="http://schemas.microsoft.com/office/powerpoint/2010/main" val="3597976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384FE8-B154-7CD0-3D86-AC789172C4B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45652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5143" y="2912365"/>
            <a:ext cx="3661715" cy="3360419"/>
          </a:xfrm>
          <a:prstGeom prst="rect">
            <a:avLst/>
          </a:prstGeom>
        </p:spPr>
      </p:pic>
      <p:pic>
        <p:nvPicPr>
          <p:cNvPr id="6" name="object 6"/>
          <p:cNvPicPr/>
          <p:nvPr/>
        </p:nvPicPr>
        <p:blipFill>
          <a:blip r:embed="rId3" cstate="print"/>
          <a:stretch>
            <a:fillRect/>
          </a:stretch>
        </p:blipFill>
        <p:spPr>
          <a:xfrm>
            <a:off x="155429" y="5024629"/>
            <a:ext cx="306285" cy="77723"/>
          </a:xfrm>
          <a:prstGeom prst="rect">
            <a:avLst/>
          </a:prstGeom>
        </p:spPr>
      </p:pic>
      <p:sp>
        <p:nvSpPr>
          <p:cNvPr id="7" name="object 7"/>
          <p:cNvSpPr txBox="1">
            <a:spLocks noGrp="1"/>
          </p:cNvSpPr>
          <p:nvPr>
            <p:ph type="title"/>
          </p:nvPr>
        </p:nvSpPr>
        <p:spPr>
          <a:xfrm>
            <a:off x="570923" y="522424"/>
            <a:ext cx="7818120" cy="457818"/>
          </a:xfrm>
          <a:prstGeom prst="rect">
            <a:avLst/>
          </a:prstGeom>
        </p:spPr>
        <p:txBody>
          <a:bodyPr vert="horz" wrap="square" lIns="0" tIns="19050" rIns="0" bIns="0" rtlCol="0" anchor="ctr">
            <a:spAutoFit/>
          </a:bodyPr>
          <a:lstStyle/>
          <a:p>
            <a:pPr marL="19050">
              <a:lnSpc>
                <a:spcPct val="100000"/>
              </a:lnSpc>
              <a:spcBef>
                <a:spcPts val="150"/>
              </a:spcBef>
            </a:pPr>
            <a:r>
              <a:rPr lang="en-US" sz="2850" b="1" dirty="0">
                <a:solidFill>
                  <a:srgbClr val="00B0F0"/>
                </a:solidFill>
                <a:latin typeface="Arial MT"/>
                <a:cs typeface="Arial MT"/>
              </a:rPr>
              <a:t>Edge Computing and other Technologies</a:t>
            </a:r>
            <a:endParaRPr sz="2850" b="1" dirty="0">
              <a:solidFill>
                <a:srgbClr val="00B0F0"/>
              </a:solidFill>
              <a:latin typeface="Arial MT"/>
              <a:cs typeface="Arial MT"/>
            </a:endParaRPr>
          </a:p>
        </p:txBody>
      </p:sp>
      <p:sp>
        <p:nvSpPr>
          <p:cNvPr id="8" name="object 8"/>
          <p:cNvSpPr txBox="1"/>
          <p:nvPr/>
        </p:nvSpPr>
        <p:spPr>
          <a:xfrm>
            <a:off x="11916079" y="515112"/>
            <a:ext cx="143828" cy="457818"/>
          </a:xfrm>
          <a:prstGeom prst="rect">
            <a:avLst/>
          </a:prstGeom>
        </p:spPr>
        <p:txBody>
          <a:bodyPr vert="horz" wrap="square" lIns="0" tIns="19050" rIns="0" bIns="0" rtlCol="0">
            <a:spAutoFit/>
          </a:bodyPr>
          <a:lstStyle/>
          <a:p>
            <a:pPr marL="19050">
              <a:spcBef>
                <a:spcPts val="150"/>
              </a:spcBef>
            </a:pPr>
            <a:r>
              <a:rPr sz="2850" spc="-75" dirty="0">
                <a:solidFill>
                  <a:srgbClr val="2395F2"/>
                </a:solidFill>
                <a:latin typeface="Arial MT"/>
                <a:cs typeface="Arial MT"/>
              </a:rPr>
              <a:t>.</a:t>
            </a:r>
            <a:endParaRPr sz="2850">
              <a:latin typeface="Arial MT"/>
              <a:cs typeface="Arial MT"/>
            </a:endParaRPr>
          </a:p>
        </p:txBody>
      </p:sp>
      <p:sp>
        <p:nvSpPr>
          <p:cNvPr id="9" name="object 9"/>
          <p:cNvSpPr txBox="1"/>
          <p:nvPr/>
        </p:nvSpPr>
        <p:spPr>
          <a:xfrm>
            <a:off x="575352" y="1044321"/>
            <a:ext cx="5146356" cy="215444"/>
          </a:xfrm>
          <a:prstGeom prst="rect">
            <a:avLst/>
          </a:prstGeom>
        </p:spPr>
        <p:txBody>
          <a:bodyPr vert="horz" wrap="square" lIns="0" tIns="19050" rIns="0" bIns="0" rtlCol="0">
            <a:spAutoFit/>
          </a:bodyPr>
          <a:lstStyle/>
          <a:p>
            <a:pPr marL="19050">
              <a:spcBef>
                <a:spcPts val="150"/>
              </a:spcBef>
            </a:pPr>
            <a:r>
              <a:rPr sz="1275" spc="113" dirty="0">
                <a:solidFill>
                  <a:srgbClr val="6E6E6E"/>
                </a:solidFill>
                <a:latin typeface="Calibri"/>
                <a:cs typeface="Calibri"/>
              </a:rPr>
              <a:t>Exploring</a:t>
            </a:r>
            <a:r>
              <a:rPr lang="en-US" sz="1275" spc="113" dirty="0">
                <a:solidFill>
                  <a:srgbClr val="6E6E6E"/>
                </a:solidFill>
                <a:latin typeface="Calibri"/>
                <a:cs typeface="Calibri"/>
              </a:rPr>
              <a:t> Other technologies with Edge</a:t>
            </a:r>
            <a:endParaRPr sz="1275" dirty="0">
              <a:latin typeface="Calibri"/>
              <a:cs typeface="Calibri"/>
            </a:endParaRPr>
          </a:p>
        </p:txBody>
      </p:sp>
      <p:sp>
        <p:nvSpPr>
          <p:cNvPr id="10" name="object 10"/>
          <p:cNvSpPr txBox="1"/>
          <p:nvPr/>
        </p:nvSpPr>
        <p:spPr>
          <a:xfrm>
            <a:off x="11716966" y="1044321"/>
            <a:ext cx="120968" cy="215444"/>
          </a:xfrm>
          <a:prstGeom prst="rect">
            <a:avLst/>
          </a:prstGeom>
        </p:spPr>
        <p:txBody>
          <a:bodyPr vert="horz" wrap="square" lIns="0" tIns="19050" rIns="0" bIns="0" rtlCol="0">
            <a:spAutoFit/>
          </a:bodyPr>
          <a:lstStyle/>
          <a:p>
            <a:pPr marL="19050">
              <a:spcBef>
                <a:spcPts val="150"/>
              </a:spcBef>
            </a:pPr>
            <a:r>
              <a:rPr sz="1275" spc="45" dirty="0">
                <a:solidFill>
                  <a:srgbClr val="1F95F4"/>
                </a:solidFill>
                <a:latin typeface="Calibri"/>
                <a:cs typeface="Calibri"/>
              </a:rPr>
              <a:t>”</a:t>
            </a:r>
            <a:endParaRPr sz="1275">
              <a:latin typeface="Calibri"/>
              <a:cs typeface="Calibri"/>
            </a:endParaRPr>
          </a:p>
        </p:txBody>
      </p:sp>
      <p:sp>
        <p:nvSpPr>
          <p:cNvPr id="11" name="object 11"/>
          <p:cNvSpPr txBox="1"/>
          <p:nvPr/>
        </p:nvSpPr>
        <p:spPr>
          <a:xfrm>
            <a:off x="4832458" y="4228718"/>
            <a:ext cx="1555433" cy="487378"/>
          </a:xfrm>
          <a:prstGeom prst="rect">
            <a:avLst/>
          </a:prstGeom>
        </p:spPr>
        <p:txBody>
          <a:bodyPr vert="horz" wrap="square" lIns="0" tIns="19050" rIns="0" bIns="0" rtlCol="0">
            <a:spAutoFit/>
          </a:bodyPr>
          <a:lstStyle/>
          <a:p>
            <a:pPr marL="19050" marR="7620">
              <a:lnSpc>
                <a:spcPct val="134100"/>
              </a:lnSpc>
              <a:spcBef>
                <a:spcPts val="150"/>
              </a:spcBef>
            </a:pPr>
            <a:r>
              <a:rPr lang="en-US" sz="1200" b="1" dirty="0">
                <a:solidFill>
                  <a:schemeClr val="tx2"/>
                </a:solidFill>
                <a:latin typeface="Arial MT"/>
                <a:cs typeface="Arial MT"/>
              </a:rPr>
              <a:t>Edge Computing and Cloud System</a:t>
            </a:r>
          </a:p>
        </p:txBody>
      </p:sp>
      <p:sp>
        <p:nvSpPr>
          <p:cNvPr id="12" name="object 12"/>
          <p:cNvSpPr txBox="1"/>
          <p:nvPr/>
        </p:nvSpPr>
        <p:spPr>
          <a:xfrm>
            <a:off x="4836584" y="4859656"/>
            <a:ext cx="2041208" cy="1642245"/>
          </a:xfrm>
          <a:prstGeom prst="rect">
            <a:avLst/>
          </a:prstGeom>
        </p:spPr>
        <p:txBody>
          <a:bodyPr vert="horz" wrap="square" lIns="0" tIns="16193" rIns="0" bIns="0" rtlCol="0">
            <a:spAutoFit/>
          </a:bodyPr>
          <a:lstStyle/>
          <a:p>
            <a:pPr marL="20955" marR="7620" indent="-2858">
              <a:lnSpc>
                <a:spcPct val="119100"/>
              </a:lnSpc>
              <a:spcBef>
                <a:spcPts val="127"/>
              </a:spcBef>
            </a:pPr>
            <a:r>
              <a:rPr lang="en-US" sz="1275" spc="-30" dirty="0">
                <a:solidFill>
                  <a:srgbClr val="6E6E6E"/>
                </a:solidFill>
                <a:latin typeface="Arial MT"/>
                <a:cs typeface="Arial MT"/>
              </a:rPr>
              <a:t>Edge computing complements cloud systems by decentralizing computational tasks and</a:t>
            </a:r>
          </a:p>
          <a:p>
            <a:pPr marL="20955" marR="7620" indent="-2858">
              <a:lnSpc>
                <a:spcPct val="119100"/>
              </a:lnSpc>
              <a:spcBef>
                <a:spcPts val="127"/>
              </a:spcBef>
            </a:pPr>
            <a:r>
              <a:rPr lang="en-US" sz="1275" spc="-30" dirty="0">
                <a:solidFill>
                  <a:srgbClr val="6E6E6E"/>
                </a:solidFill>
                <a:latin typeface="Arial MT"/>
                <a:cs typeface="Arial MT"/>
              </a:rPr>
              <a:t>processing data closer to the source, reducing the load on centralized cloud servers</a:t>
            </a:r>
            <a:endParaRPr lang="en-US" sz="1275" dirty="0">
              <a:latin typeface="Arial MT"/>
              <a:cs typeface="Arial MT"/>
            </a:endParaRPr>
          </a:p>
        </p:txBody>
      </p:sp>
      <p:sp>
        <p:nvSpPr>
          <p:cNvPr id="13" name="object 13"/>
          <p:cNvSpPr txBox="1"/>
          <p:nvPr/>
        </p:nvSpPr>
        <p:spPr>
          <a:xfrm>
            <a:off x="7152136" y="4228718"/>
            <a:ext cx="2104073" cy="313419"/>
          </a:xfrm>
          <a:prstGeom prst="rect">
            <a:avLst/>
          </a:prstGeom>
        </p:spPr>
        <p:txBody>
          <a:bodyPr vert="horz" wrap="square" lIns="0" tIns="19050" rIns="0" bIns="0" rtlCol="0">
            <a:spAutoFit/>
          </a:bodyPr>
          <a:lstStyle/>
          <a:p>
            <a:pPr marL="19050" marR="7620">
              <a:lnSpc>
                <a:spcPct val="134100"/>
              </a:lnSpc>
              <a:spcBef>
                <a:spcPts val="150"/>
              </a:spcBef>
            </a:pPr>
            <a:r>
              <a:rPr lang="en-US" sz="1600" b="1" dirty="0">
                <a:solidFill>
                  <a:schemeClr val="tx2"/>
                </a:solidFill>
                <a:latin typeface="Arial MT"/>
                <a:cs typeface="Arial MT"/>
              </a:rPr>
              <a:t>Cloudlet Computing</a:t>
            </a:r>
          </a:p>
        </p:txBody>
      </p:sp>
      <p:sp>
        <p:nvSpPr>
          <p:cNvPr id="14" name="object 14"/>
          <p:cNvSpPr txBox="1"/>
          <p:nvPr/>
        </p:nvSpPr>
        <p:spPr>
          <a:xfrm>
            <a:off x="7160120" y="4869404"/>
            <a:ext cx="2085975" cy="1375633"/>
          </a:xfrm>
          <a:prstGeom prst="rect">
            <a:avLst/>
          </a:prstGeom>
        </p:spPr>
        <p:txBody>
          <a:bodyPr vert="horz" wrap="square" lIns="0" tIns="7620" rIns="0" bIns="0" rtlCol="0">
            <a:spAutoFit/>
          </a:bodyPr>
          <a:lstStyle/>
          <a:p>
            <a:pPr marL="19050" marR="7620" indent="953">
              <a:lnSpc>
                <a:spcPct val="124900"/>
              </a:lnSpc>
              <a:spcBef>
                <a:spcPts val="60"/>
              </a:spcBef>
            </a:pPr>
            <a:r>
              <a:rPr lang="en-US" sz="1200" spc="75" dirty="0">
                <a:solidFill>
                  <a:srgbClr val="707070"/>
                </a:solidFill>
                <a:latin typeface="Calibri"/>
                <a:cs typeface="Calibri"/>
              </a:rPr>
              <a:t>Lightweight and scalable computing infrastructure located near mobile devices. Offloads tasks from resource-constrained devices (e.g., smartphones)</a:t>
            </a:r>
            <a:endParaRPr lang="en-US" sz="1200" dirty="0">
              <a:latin typeface="Calibri"/>
              <a:cs typeface="Calibri"/>
            </a:endParaRPr>
          </a:p>
        </p:txBody>
      </p:sp>
      <p:sp>
        <p:nvSpPr>
          <p:cNvPr id="18" name="Rectangle 17">
            <a:extLst>
              <a:ext uri="{FF2B5EF4-FFF2-40B4-BE49-F238E27FC236}">
                <a16:creationId xmlns:a16="http://schemas.microsoft.com/office/drawing/2014/main" id="{531BB837-122F-CAE1-89C3-4F58151628C5}"/>
              </a:ext>
            </a:extLst>
          </p:cNvPr>
          <p:cNvSpPr/>
          <p:nvPr/>
        </p:nvSpPr>
        <p:spPr>
          <a:xfrm>
            <a:off x="4495800" y="1828801"/>
            <a:ext cx="2381991" cy="2171699"/>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object 14">
            <a:extLst>
              <a:ext uri="{FF2B5EF4-FFF2-40B4-BE49-F238E27FC236}">
                <a16:creationId xmlns:a16="http://schemas.microsoft.com/office/drawing/2014/main" id="{0A20C296-E852-C26E-3C2C-FB736002B650}"/>
              </a:ext>
            </a:extLst>
          </p:cNvPr>
          <p:cNvSpPr txBox="1"/>
          <p:nvPr/>
        </p:nvSpPr>
        <p:spPr>
          <a:xfrm>
            <a:off x="9499428" y="4777805"/>
            <a:ext cx="2085975" cy="1850122"/>
          </a:xfrm>
          <a:prstGeom prst="rect">
            <a:avLst/>
          </a:prstGeom>
        </p:spPr>
        <p:txBody>
          <a:bodyPr vert="horz" wrap="square" lIns="0" tIns="7620" rIns="0" bIns="0" rtlCol="0">
            <a:spAutoFit/>
          </a:bodyPr>
          <a:lstStyle/>
          <a:p>
            <a:pPr marL="19050" marR="7620" indent="953" algn="just">
              <a:lnSpc>
                <a:spcPct val="124900"/>
              </a:lnSpc>
              <a:spcBef>
                <a:spcPts val="60"/>
              </a:spcBef>
            </a:pPr>
            <a:r>
              <a:rPr lang="en-US" sz="1200" spc="75" dirty="0">
                <a:solidFill>
                  <a:srgbClr val="707070"/>
                </a:solidFill>
                <a:latin typeface="Calibri"/>
                <a:cs typeface="Calibri"/>
              </a:rPr>
              <a:t>Fog computing extends edge computing hierarchically, serving as an intermediary between edge devices and cloud systems. It manages large-scale IoT deployments, distributing</a:t>
            </a:r>
          </a:p>
          <a:p>
            <a:pPr marL="19050" marR="7620" indent="953" algn="just">
              <a:lnSpc>
                <a:spcPct val="124900"/>
              </a:lnSpc>
              <a:spcBef>
                <a:spcPts val="60"/>
              </a:spcBef>
            </a:pPr>
            <a:r>
              <a:rPr lang="en-US" sz="1200" spc="75" dirty="0">
                <a:solidFill>
                  <a:srgbClr val="707070"/>
                </a:solidFill>
                <a:latin typeface="Calibri"/>
                <a:cs typeface="Calibri"/>
              </a:rPr>
              <a:t>computational</a:t>
            </a:r>
            <a:endParaRPr lang="en-US" sz="1200" dirty="0">
              <a:latin typeface="Calibri"/>
              <a:cs typeface="Calibri"/>
            </a:endParaRPr>
          </a:p>
        </p:txBody>
      </p:sp>
      <p:sp>
        <p:nvSpPr>
          <p:cNvPr id="20" name="object 13">
            <a:extLst>
              <a:ext uri="{FF2B5EF4-FFF2-40B4-BE49-F238E27FC236}">
                <a16:creationId xmlns:a16="http://schemas.microsoft.com/office/drawing/2014/main" id="{A68125B1-F175-4D5E-1808-84D1354CFC29}"/>
              </a:ext>
            </a:extLst>
          </p:cNvPr>
          <p:cNvSpPr txBox="1"/>
          <p:nvPr/>
        </p:nvSpPr>
        <p:spPr>
          <a:xfrm>
            <a:off x="9499429" y="4229100"/>
            <a:ext cx="2104073" cy="350224"/>
          </a:xfrm>
          <a:prstGeom prst="rect">
            <a:avLst/>
          </a:prstGeom>
        </p:spPr>
        <p:txBody>
          <a:bodyPr vert="horz" wrap="square" lIns="0" tIns="19050" rIns="0" bIns="0" rtlCol="0">
            <a:spAutoFit/>
          </a:bodyPr>
          <a:lstStyle/>
          <a:p>
            <a:pPr marL="19050" marR="7620">
              <a:lnSpc>
                <a:spcPct val="134100"/>
              </a:lnSpc>
              <a:spcBef>
                <a:spcPts val="150"/>
              </a:spcBef>
            </a:pPr>
            <a:r>
              <a:rPr lang="en-US" b="1" dirty="0">
                <a:solidFill>
                  <a:schemeClr val="tx2"/>
                </a:solidFill>
                <a:latin typeface="Arial MT"/>
                <a:cs typeface="Arial MT"/>
              </a:rPr>
              <a:t>Fog Computing</a:t>
            </a:r>
          </a:p>
        </p:txBody>
      </p:sp>
      <p:sp>
        <p:nvSpPr>
          <p:cNvPr id="21" name="Rectangle 20">
            <a:extLst>
              <a:ext uri="{FF2B5EF4-FFF2-40B4-BE49-F238E27FC236}">
                <a16:creationId xmlns:a16="http://schemas.microsoft.com/office/drawing/2014/main" id="{1E7A000B-991F-8EF0-760F-CE7A88DA45DF}"/>
              </a:ext>
            </a:extLst>
          </p:cNvPr>
          <p:cNvSpPr/>
          <p:nvPr/>
        </p:nvSpPr>
        <p:spPr>
          <a:xfrm>
            <a:off x="6997614" y="1842629"/>
            <a:ext cx="2381991" cy="2171699"/>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2" name="Rectangle 21">
            <a:extLst>
              <a:ext uri="{FF2B5EF4-FFF2-40B4-BE49-F238E27FC236}">
                <a16:creationId xmlns:a16="http://schemas.microsoft.com/office/drawing/2014/main" id="{AA56B6EC-D3A6-4278-C950-FDBFA057986D}"/>
              </a:ext>
            </a:extLst>
          </p:cNvPr>
          <p:cNvSpPr/>
          <p:nvPr/>
        </p:nvSpPr>
        <p:spPr>
          <a:xfrm>
            <a:off x="9499428" y="1856458"/>
            <a:ext cx="2381991" cy="2171699"/>
          </a:xfrm>
          <a:prstGeom prst="rect">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17"/>
          <p:cNvSpPr txBox="1"/>
          <p:nvPr/>
        </p:nvSpPr>
        <p:spPr>
          <a:xfrm>
            <a:off x="11233227" y="515113"/>
            <a:ext cx="840105" cy="457818"/>
          </a:xfrm>
          <a:prstGeom prst="rect">
            <a:avLst/>
          </a:prstGeom>
        </p:spPr>
        <p:txBody>
          <a:bodyPr vert="horz" wrap="square" lIns="0" tIns="19050" rIns="0" bIns="0" rtlCol="0">
            <a:spAutoFit/>
          </a:bodyPr>
          <a:lstStyle/>
          <a:p>
            <a:pPr marL="19050">
              <a:spcBef>
                <a:spcPts val="150"/>
              </a:spcBef>
            </a:pPr>
            <a:r>
              <a:rPr sz="2850" dirty="0">
                <a:solidFill>
                  <a:srgbClr val="2193F4"/>
                </a:solidFill>
                <a:latin typeface="Arial MT"/>
                <a:cs typeface="Arial MT"/>
              </a:rPr>
              <a:t>" </a:t>
            </a:r>
            <a:r>
              <a:rPr sz="2850" dirty="0">
                <a:solidFill>
                  <a:srgbClr val="2197F4"/>
                </a:solidFill>
                <a:latin typeface="Arial MT"/>
                <a:cs typeface="Arial MT"/>
              </a:rPr>
              <a:t>"</a:t>
            </a:r>
            <a:r>
              <a:rPr sz="2850" spc="8" dirty="0">
                <a:solidFill>
                  <a:srgbClr val="2197F4"/>
                </a:solidFill>
                <a:latin typeface="Arial MT"/>
                <a:cs typeface="Arial MT"/>
              </a:rPr>
              <a:t> </a:t>
            </a:r>
            <a:r>
              <a:rPr sz="2850" dirty="0">
                <a:solidFill>
                  <a:srgbClr val="1F97F6"/>
                </a:solidFill>
                <a:latin typeface="Arial MT"/>
                <a:cs typeface="Arial MT"/>
              </a:rPr>
              <a:t>"</a:t>
            </a:r>
            <a:r>
              <a:rPr sz="2850" spc="225" dirty="0">
                <a:solidFill>
                  <a:srgbClr val="1F97F6"/>
                </a:solidFill>
                <a:latin typeface="Arial MT"/>
                <a:cs typeface="Arial MT"/>
              </a:rPr>
              <a:t> </a:t>
            </a:r>
            <a:r>
              <a:rPr sz="2850" spc="-75" dirty="0">
                <a:solidFill>
                  <a:srgbClr val="2195EF"/>
                </a:solidFill>
                <a:latin typeface="Arial MT"/>
                <a:cs typeface="Arial MT"/>
              </a:rPr>
              <a:t>I</a:t>
            </a:r>
            <a:endParaRPr sz="2850">
              <a:latin typeface="Arial MT"/>
              <a:cs typeface="Arial MT"/>
            </a:endParaRPr>
          </a:p>
        </p:txBody>
      </p:sp>
      <p:sp>
        <p:nvSpPr>
          <p:cNvPr id="18" name="object 18"/>
          <p:cNvSpPr txBox="1"/>
          <p:nvPr/>
        </p:nvSpPr>
        <p:spPr>
          <a:xfrm>
            <a:off x="306649" y="4523612"/>
            <a:ext cx="3746183" cy="1940275"/>
          </a:xfrm>
          <a:prstGeom prst="rect">
            <a:avLst/>
          </a:prstGeom>
        </p:spPr>
        <p:txBody>
          <a:bodyPr vert="horz" wrap="square" lIns="0" tIns="19050" rIns="0" bIns="0" rtlCol="0">
            <a:spAutoFit/>
          </a:bodyPr>
          <a:lstStyle/>
          <a:p>
            <a:pPr marL="279083" algn="ctr">
              <a:spcBef>
                <a:spcPts val="150"/>
              </a:spcBef>
            </a:pPr>
            <a:r>
              <a:rPr lang="da-DK" sz="1275" b="1" spc="15" dirty="0">
                <a:solidFill>
                  <a:srgbClr val="181818"/>
                </a:solidFill>
                <a:latin typeface="Arial MT"/>
                <a:cs typeface="Arial MT"/>
              </a:rPr>
              <a:t>Shiyang Liang et al. (2024)</a:t>
            </a:r>
          </a:p>
          <a:p>
            <a:pPr marL="279083" algn="ctr">
              <a:spcBef>
                <a:spcPts val="150"/>
              </a:spcBef>
            </a:pPr>
            <a:endParaRPr lang="da-DK" sz="1275" b="1" spc="15" dirty="0">
              <a:solidFill>
                <a:srgbClr val="181818"/>
              </a:solidFill>
              <a:latin typeface="Arial MT"/>
              <a:cs typeface="Arial MT"/>
            </a:endParaRPr>
          </a:p>
          <a:p>
            <a:pPr marL="279083" algn="just">
              <a:spcBef>
                <a:spcPts val="150"/>
              </a:spcBef>
            </a:pPr>
            <a:r>
              <a:rPr lang="en-US" sz="1200" dirty="0"/>
              <a:t>Their review emphasizes edge computing as a transformative approach that minimizes data transmission distances, enhancing real-time processing capabilities. They highlight its applications in power systems, such as smart meter management and data analysis, showcasing how edge computing supports grid reliability and security by reducing latency and increasing efficiency in monitoring systems</a:t>
            </a:r>
            <a:endParaRPr sz="1200" dirty="0">
              <a:latin typeface="Arial MT"/>
              <a:cs typeface="Arial MT"/>
            </a:endParaRPr>
          </a:p>
        </p:txBody>
      </p:sp>
      <p:sp>
        <p:nvSpPr>
          <p:cNvPr id="23" name="object 23"/>
          <p:cNvSpPr txBox="1"/>
          <p:nvPr/>
        </p:nvSpPr>
        <p:spPr>
          <a:xfrm>
            <a:off x="8086998" y="4523612"/>
            <a:ext cx="3510915" cy="2440412"/>
          </a:xfrm>
          <a:prstGeom prst="rect">
            <a:avLst/>
          </a:prstGeom>
        </p:spPr>
        <p:txBody>
          <a:bodyPr vert="horz" wrap="square" lIns="0" tIns="19050" rIns="0" bIns="0" rtlCol="0">
            <a:spAutoFit/>
          </a:bodyPr>
          <a:lstStyle/>
          <a:p>
            <a:pPr marL="19050">
              <a:spcBef>
                <a:spcPts val="150"/>
              </a:spcBef>
            </a:pPr>
            <a:r>
              <a:rPr lang="en-US" sz="1400" b="1" dirty="0" err="1"/>
              <a:t>Satyanarayanan</a:t>
            </a:r>
            <a:r>
              <a:rPr lang="en-US" sz="1400" b="1" dirty="0"/>
              <a:t> et al. (2017)</a:t>
            </a:r>
          </a:p>
          <a:p>
            <a:pPr marL="19050">
              <a:spcBef>
                <a:spcPts val="150"/>
              </a:spcBef>
            </a:pPr>
            <a:endParaRPr lang="en-US" sz="1400" b="1" dirty="0"/>
          </a:p>
          <a:p>
            <a:pPr algn="just"/>
            <a:r>
              <a:rPr lang="en-US" sz="1400" dirty="0"/>
              <a:t>These authors are path-finders in conceptualizing edge computing frameworks. They underscore the role of "Cloudlets" in bringing computational resources closer to mobile devices, enabling applications like augmented reality and video analytics by minimizing latency and dependency on centralized servers​</a:t>
            </a:r>
          </a:p>
          <a:p>
            <a:pPr marL="19050">
              <a:spcBef>
                <a:spcPts val="150"/>
              </a:spcBef>
            </a:pPr>
            <a:endParaRPr lang="en-US" sz="1400" b="1" dirty="0"/>
          </a:p>
        </p:txBody>
      </p:sp>
      <p:sp>
        <p:nvSpPr>
          <p:cNvPr id="28" name="object 3">
            <a:extLst>
              <a:ext uri="{FF2B5EF4-FFF2-40B4-BE49-F238E27FC236}">
                <a16:creationId xmlns:a16="http://schemas.microsoft.com/office/drawing/2014/main" id="{FECC425A-0144-ADE8-81EA-386C19070F0D}"/>
              </a:ext>
            </a:extLst>
          </p:cNvPr>
          <p:cNvSpPr txBox="1">
            <a:spLocks noGrp="1"/>
          </p:cNvSpPr>
          <p:nvPr>
            <p:ph type="title"/>
          </p:nvPr>
        </p:nvSpPr>
        <p:spPr>
          <a:xfrm>
            <a:off x="379353" y="328870"/>
            <a:ext cx="8655317" cy="321883"/>
          </a:xfrm>
          <a:prstGeom prst="rect">
            <a:avLst/>
          </a:prstGeom>
        </p:spPr>
        <p:txBody>
          <a:bodyPr vert="horz" wrap="square" lIns="0" tIns="26670" rIns="0" bIns="0" rtlCol="0">
            <a:spAutoFit/>
          </a:bodyPr>
          <a:lstStyle/>
          <a:p>
            <a:pPr marL="13970" marR="5080" indent="-1905">
              <a:lnSpc>
                <a:spcPts val="2300"/>
              </a:lnSpc>
              <a:spcBef>
                <a:spcPts val="210"/>
              </a:spcBef>
            </a:pPr>
            <a:r>
              <a:rPr sz="2400" b="1" spc="-30" dirty="0">
                <a:solidFill>
                  <a:srgbClr val="2395EF"/>
                </a:solidFill>
                <a:latin typeface="Arial MT"/>
                <a:cs typeface="Arial MT"/>
              </a:rPr>
              <a:t>Views</a:t>
            </a:r>
            <a:r>
              <a:rPr sz="2400" b="1" spc="25" dirty="0">
                <a:solidFill>
                  <a:srgbClr val="2395EF"/>
                </a:solidFill>
                <a:latin typeface="Arial MT"/>
                <a:cs typeface="Arial MT"/>
              </a:rPr>
              <a:t> </a:t>
            </a:r>
            <a:r>
              <a:rPr sz="2400" b="1" dirty="0">
                <a:solidFill>
                  <a:srgbClr val="2195F2"/>
                </a:solidFill>
                <a:latin typeface="Arial MT"/>
                <a:cs typeface="Arial MT"/>
              </a:rPr>
              <a:t>from</a:t>
            </a:r>
            <a:r>
              <a:rPr sz="2400" b="1" spc="-45" dirty="0">
                <a:solidFill>
                  <a:srgbClr val="2195F2"/>
                </a:solidFill>
                <a:latin typeface="Arial MT"/>
                <a:cs typeface="Arial MT"/>
              </a:rPr>
              <a:t> </a:t>
            </a:r>
            <a:r>
              <a:rPr sz="2400" b="1" dirty="0">
                <a:solidFill>
                  <a:srgbClr val="2197F6"/>
                </a:solidFill>
                <a:latin typeface="Arial MT"/>
                <a:cs typeface="Arial MT"/>
              </a:rPr>
              <a:t>Leading</a:t>
            </a:r>
            <a:r>
              <a:rPr sz="2400" b="1" spc="65" dirty="0">
                <a:solidFill>
                  <a:srgbClr val="2197F6"/>
                </a:solidFill>
                <a:latin typeface="Arial MT"/>
                <a:cs typeface="Arial MT"/>
              </a:rPr>
              <a:t> </a:t>
            </a:r>
            <a:r>
              <a:rPr sz="2400" b="1" dirty="0">
                <a:solidFill>
                  <a:srgbClr val="2197F6"/>
                </a:solidFill>
                <a:latin typeface="Arial MT"/>
                <a:cs typeface="Arial MT"/>
              </a:rPr>
              <a:t>Authors:</a:t>
            </a:r>
            <a:r>
              <a:rPr sz="2400" b="1" spc="10" dirty="0">
                <a:solidFill>
                  <a:srgbClr val="2197F6"/>
                </a:solidFill>
                <a:latin typeface="Arial MT"/>
                <a:cs typeface="Arial MT"/>
              </a:rPr>
              <a:t> </a:t>
            </a:r>
            <a:r>
              <a:rPr sz="2400" b="1" spc="-254" dirty="0">
                <a:solidFill>
                  <a:srgbClr val="2195F2"/>
                </a:solidFill>
                <a:latin typeface="Arial MT"/>
                <a:cs typeface="Arial MT"/>
              </a:rPr>
              <a:t>A</a:t>
            </a:r>
            <a:r>
              <a:rPr sz="2400" b="1" spc="-35" dirty="0">
                <a:solidFill>
                  <a:srgbClr val="2195F2"/>
                </a:solidFill>
                <a:latin typeface="Arial MT"/>
                <a:cs typeface="Arial MT"/>
              </a:rPr>
              <a:t> </a:t>
            </a:r>
            <a:r>
              <a:rPr sz="2400" b="1" spc="-10" dirty="0">
                <a:solidFill>
                  <a:srgbClr val="1F91EB"/>
                </a:solidFill>
                <a:latin typeface="Arial MT"/>
                <a:cs typeface="Arial MT"/>
              </a:rPr>
              <a:t>Comparative </a:t>
            </a:r>
            <a:r>
              <a:rPr sz="2400" b="1" spc="-10" dirty="0">
                <a:solidFill>
                  <a:srgbClr val="1F95F2"/>
                </a:solidFill>
                <a:latin typeface="Arial MT"/>
                <a:cs typeface="Arial MT"/>
              </a:rPr>
              <a:t>Anal</a:t>
            </a:r>
            <a:r>
              <a:rPr lang="en-US" sz="2400" b="1" spc="-10" dirty="0">
                <a:solidFill>
                  <a:srgbClr val="1F95F2"/>
                </a:solidFill>
                <a:latin typeface="Arial MT"/>
                <a:cs typeface="Arial MT"/>
              </a:rPr>
              <a:t>y</a:t>
            </a:r>
            <a:r>
              <a:rPr sz="2400" b="1" spc="-10" dirty="0">
                <a:solidFill>
                  <a:srgbClr val="1F95F2"/>
                </a:solidFill>
                <a:latin typeface="Arial MT"/>
                <a:cs typeface="Arial MT"/>
              </a:rPr>
              <a:t>sis</a:t>
            </a:r>
            <a:endParaRPr sz="2400" b="1" dirty="0">
              <a:latin typeface="Arial MT"/>
              <a:cs typeface="Arial MT"/>
            </a:endParaRPr>
          </a:p>
        </p:txBody>
      </p:sp>
      <p:sp>
        <p:nvSpPr>
          <p:cNvPr id="29" name="Rectangle 28">
            <a:extLst>
              <a:ext uri="{FF2B5EF4-FFF2-40B4-BE49-F238E27FC236}">
                <a16:creationId xmlns:a16="http://schemas.microsoft.com/office/drawing/2014/main" id="{7941E78F-B3D8-5211-32A3-A95D2B1E90F8}"/>
              </a:ext>
            </a:extLst>
          </p:cNvPr>
          <p:cNvSpPr/>
          <p:nvPr/>
        </p:nvSpPr>
        <p:spPr>
          <a:xfrm>
            <a:off x="536713" y="2226365"/>
            <a:ext cx="3409122" cy="2144467"/>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43F7E39-3DD4-3186-F7D5-C6A64F157CC3}"/>
              </a:ext>
            </a:extLst>
          </p:cNvPr>
          <p:cNvSpPr/>
          <p:nvPr/>
        </p:nvSpPr>
        <p:spPr>
          <a:xfrm>
            <a:off x="4241755" y="2242465"/>
            <a:ext cx="3409122" cy="2144467"/>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63F939E-3B19-E4B3-7B69-B40B716E5B2E}"/>
              </a:ext>
            </a:extLst>
          </p:cNvPr>
          <p:cNvSpPr/>
          <p:nvPr/>
        </p:nvSpPr>
        <p:spPr>
          <a:xfrm>
            <a:off x="7946797" y="2226364"/>
            <a:ext cx="3409122" cy="2144467"/>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bject 23">
            <a:extLst>
              <a:ext uri="{FF2B5EF4-FFF2-40B4-BE49-F238E27FC236}">
                <a16:creationId xmlns:a16="http://schemas.microsoft.com/office/drawing/2014/main" id="{F9BC6FDC-5248-D624-367A-641028F36F64}"/>
              </a:ext>
            </a:extLst>
          </p:cNvPr>
          <p:cNvSpPr txBox="1"/>
          <p:nvPr/>
        </p:nvSpPr>
        <p:spPr>
          <a:xfrm>
            <a:off x="4340542" y="4523612"/>
            <a:ext cx="3510915" cy="2440412"/>
          </a:xfrm>
          <a:prstGeom prst="rect">
            <a:avLst/>
          </a:prstGeom>
        </p:spPr>
        <p:txBody>
          <a:bodyPr vert="horz" wrap="square" lIns="0" tIns="19050" rIns="0" bIns="0" rtlCol="0">
            <a:spAutoFit/>
          </a:bodyPr>
          <a:lstStyle/>
          <a:p>
            <a:pPr marL="19050">
              <a:spcBef>
                <a:spcPts val="150"/>
              </a:spcBef>
            </a:pPr>
            <a:r>
              <a:rPr lang="en-US" sz="1400" b="1" spc="15" dirty="0">
                <a:solidFill>
                  <a:srgbClr val="181818"/>
                </a:solidFill>
                <a:latin typeface="Arial MT"/>
                <a:cs typeface="Arial MT"/>
              </a:rPr>
              <a:t>Authors from MDPI's Review (2023)</a:t>
            </a:r>
            <a:endParaRPr lang="en-US" sz="1400" b="1" dirty="0">
              <a:latin typeface="Arial MT"/>
              <a:cs typeface="Arial MT"/>
            </a:endParaRPr>
          </a:p>
          <a:p>
            <a:pPr marL="19050">
              <a:spcBef>
                <a:spcPts val="150"/>
              </a:spcBef>
            </a:pPr>
            <a:endParaRPr lang="en-US" sz="1400" b="1" dirty="0"/>
          </a:p>
          <a:p>
            <a:pPr algn="just"/>
            <a:r>
              <a:rPr lang="en-US" sz="1400" dirty="0"/>
              <a:t>This review outlines the duality of edge computing and cloud computing, particularly in IoT ecosystems. The authors compare their strengths, noting that while cloud computing offers scalability and extensive resources, edge computing addresses latency-sensitive tasks and improves privacy by processing data closer to the source. </a:t>
            </a:r>
          </a:p>
          <a:p>
            <a:pPr marL="19050">
              <a:spcBef>
                <a:spcPts val="150"/>
              </a:spcBef>
            </a:pPr>
            <a:endParaRPr lang="en-US" sz="1400" b="1" dirty="0"/>
          </a:p>
        </p:txBody>
      </p:sp>
      <p:sp>
        <p:nvSpPr>
          <p:cNvPr id="33" name="TextBox 32">
            <a:extLst>
              <a:ext uri="{FF2B5EF4-FFF2-40B4-BE49-F238E27FC236}">
                <a16:creationId xmlns:a16="http://schemas.microsoft.com/office/drawing/2014/main" id="{210BBB11-0BC6-CAE5-0F07-3B1648CACB0D}"/>
              </a:ext>
            </a:extLst>
          </p:cNvPr>
          <p:cNvSpPr txBox="1"/>
          <p:nvPr/>
        </p:nvSpPr>
        <p:spPr>
          <a:xfrm>
            <a:off x="536713" y="972931"/>
            <a:ext cx="10535478" cy="923330"/>
          </a:xfrm>
          <a:prstGeom prst="rect">
            <a:avLst/>
          </a:prstGeom>
          <a:noFill/>
        </p:spPr>
        <p:txBody>
          <a:bodyPr wrap="square" rtlCol="0">
            <a:spAutoFit/>
          </a:bodyPr>
          <a:lstStyle/>
          <a:p>
            <a:pPr algn="just"/>
            <a:r>
              <a:rPr lang="en-US" b="0" i="0" dirty="0">
                <a:solidFill>
                  <a:srgbClr val="6E7177"/>
                </a:solidFill>
                <a:effectLst/>
                <a:latin typeface="Work Sans" pitchFamily="2" charset="0"/>
              </a:rPr>
              <a:t>Edge computing has been widely discussed in research due to its significant benefits for real-time data processing and integration with emerging technologies. Here are insights from various authors and their contributions to the understanding of edge computing:</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0EA52E-0264-D325-A240-B556E00F8A4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25898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DE571-FB49-0823-6DD0-C50103E9056B}"/>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8E66A8A2-EFF6-0FF8-F58C-55012ABAE8DB}"/>
              </a:ext>
            </a:extLst>
          </p:cNvPr>
          <p:cNvSpPr>
            <a:spLocks noGrp="1"/>
          </p:cNvSpPr>
          <p:nvPr>
            <p:ph idx="1"/>
          </p:nvPr>
        </p:nvSpPr>
        <p:spPr/>
        <p:txBody>
          <a:bodyPr/>
          <a:lstStyle/>
          <a:p>
            <a:pPr marL="457200" indent="-457200">
              <a:buFont typeface="+mj-lt"/>
              <a:buAutoNum type="arabicParenR"/>
            </a:pPr>
            <a:r>
              <a:rPr lang="en-US" sz="2000" dirty="0"/>
              <a:t>A Review of Edge Computing Technology and Its Applications in Power Systems. 30 May 2024 / Revised: 19 June 2024 / Accepted: 21 June 2024 / Published: 1 July 2024</a:t>
            </a:r>
          </a:p>
          <a:p>
            <a:pPr marL="457200" indent="-457200">
              <a:buFont typeface="+mj-lt"/>
              <a:buAutoNum type="arabicParenR"/>
            </a:pPr>
            <a:r>
              <a:rPr lang="en-US" sz="2000" dirty="0"/>
              <a:t>Edge Computing and Cloud Computing for Internet of Things: A Review. 16 July 2024 / Revised: 16 September 2024 / Accepted: 24 September 2024 / Published: 30 September 2024.</a:t>
            </a:r>
          </a:p>
          <a:p>
            <a:pPr marL="457200" indent="-457200">
              <a:buFont typeface="+mj-lt"/>
              <a:buAutoNum type="arabicParenR"/>
            </a:pPr>
            <a:r>
              <a:rPr lang="en-US" sz="2000" dirty="0"/>
              <a:t>M. </a:t>
            </a:r>
            <a:r>
              <a:rPr lang="en-US" sz="2000" dirty="0" err="1"/>
              <a:t>Satyanarayanan</a:t>
            </a:r>
            <a:r>
              <a:rPr lang="en-US" sz="2000" dirty="0"/>
              <a:t>, "The Emergence of Edge Computing," in Computer, vol. 50, no. 1, pp. 30-39, Jan. 2017, </a:t>
            </a:r>
            <a:r>
              <a:rPr lang="en-US" sz="2000" dirty="0" err="1"/>
              <a:t>doi</a:t>
            </a:r>
            <a:r>
              <a:rPr lang="en-US" sz="2000" dirty="0"/>
              <a:t>: 10.1109/MC.2017.9. </a:t>
            </a: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21591360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TotalTime>
  <Words>478</Words>
  <Application>Microsoft Office PowerPoint</Application>
  <PresentationFormat>Widescreen</PresentationFormat>
  <Paragraphs>45</Paragraphs>
  <Slides>14</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Arial</vt:lpstr>
      <vt:lpstr>Arial MT</vt:lpstr>
      <vt:lpstr>Calibri</vt:lpstr>
      <vt:lpstr>Calibri Light</vt:lpstr>
      <vt:lpstr>Century Gothic</vt:lpstr>
      <vt:lpstr>Times New Roman</vt:lpstr>
      <vt:lpstr>Wingdings 3</vt:lpstr>
      <vt:lpstr>Work Sans</vt:lpstr>
      <vt:lpstr>Office Theme</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Edge Computing and other Technologies</vt:lpstr>
      <vt:lpstr>Views from Leading Authors: A Comparative Analysis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AAMIR HUSSAIN</dc:creator>
  <cp:lastModifiedBy>KHAN AAMIR HUSSAIN</cp:lastModifiedBy>
  <cp:revision>14</cp:revision>
  <dcterms:created xsi:type="dcterms:W3CDTF">2024-11-20T12:48:21Z</dcterms:created>
  <dcterms:modified xsi:type="dcterms:W3CDTF">2024-11-21T06:26:45Z</dcterms:modified>
</cp:coreProperties>
</file>